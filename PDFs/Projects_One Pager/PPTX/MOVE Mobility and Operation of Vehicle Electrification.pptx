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772400" cy="10058400"/>
  <p:notesSz cx="6858000" cy="9144000"/>
  <p:embeddedFontLst>
    <p:embeddedFont>
      <p:font typeface="Alegreya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F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B2F026-56CD-5634-8487-37FA553014D4}" v="3" dt="2025-03-31T05:01:31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BE97415-1C86-A7AF-30F8-65ECCDF18116}"/>
              </a:ext>
            </a:extLst>
          </p:cNvPr>
          <p:cNvSpPr/>
          <p:nvPr/>
        </p:nvSpPr>
        <p:spPr>
          <a:xfrm>
            <a:off x="80" y="9059833"/>
            <a:ext cx="7767525" cy="998028"/>
          </a:xfrm>
          <a:prstGeom prst="rect">
            <a:avLst/>
          </a:prstGeom>
          <a:solidFill>
            <a:schemeClr val="accent1"/>
          </a:solidFill>
          <a:ln>
            <a:solidFill>
              <a:srgbClr val="4472C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7397A7-5E00-7FD3-1FD4-E609508F6DDB}"/>
              </a:ext>
            </a:extLst>
          </p:cNvPr>
          <p:cNvSpPr/>
          <p:nvPr/>
        </p:nvSpPr>
        <p:spPr>
          <a:xfrm>
            <a:off x="105" y="-14435"/>
            <a:ext cx="7767525" cy="998028"/>
          </a:xfrm>
          <a:prstGeom prst="rect">
            <a:avLst/>
          </a:prstGeom>
          <a:solidFill>
            <a:schemeClr val="accent1"/>
          </a:solidFill>
          <a:ln>
            <a:solidFill>
              <a:srgbClr val="4472C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86266" y="5464205"/>
            <a:ext cx="7599868" cy="4095030"/>
            <a:chOff x="0" y="0"/>
            <a:chExt cx="2895188" cy="1560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95188" cy="1560011"/>
            </a:xfrm>
            <a:custGeom>
              <a:avLst/>
              <a:gdLst/>
              <a:ahLst/>
              <a:cxnLst/>
              <a:rect l="l" t="t" r="r" b="b"/>
              <a:pathLst>
                <a:path w="2895188" h="1560011">
                  <a:moveTo>
                    <a:pt x="0" y="0"/>
                  </a:moveTo>
                  <a:lnTo>
                    <a:pt x="2895188" y="0"/>
                  </a:lnTo>
                  <a:lnTo>
                    <a:pt x="2895188" y="1560011"/>
                  </a:lnTo>
                  <a:lnTo>
                    <a:pt x="0" y="1560011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895188" cy="1588586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84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5233402" y="3135120"/>
            <a:ext cx="0" cy="1337597"/>
          </a:xfrm>
          <a:prstGeom prst="line">
            <a:avLst/>
          </a:prstGeom>
          <a:ln w="47625" cap="flat">
            <a:solidFill>
              <a:srgbClr val="E5E7E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553959" y="119776"/>
            <a:ext cx="3034239" cy="785109"/>
          </a:xfrm>
          <a:custGeom>
            <a:avLst/>
            <a:gdLst/>
            <a:ahLst/>
            <a:cxnLst/>
            <a:rect l="l" t="t" r="r" b="b"/>
            <a:pathLst>
              <a:path w="3034239" h="785109">
                <a:moveTo>
                  <a:pt x="0" y="0"/>
                </a:moveTo>
                <a:lnTo>
                  <a:pt x="3034239" y="0"/>
                </a:lnTo>
                <a:lnTo>
                  <a:pt x="3034239" y="785109"/>
                </a:lnTo>
                <a:lnTo>
                  <a:pt x="0" y="785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6452" y="61043"/>
            <a:ext cx="1594082" cy="836893"/>
          </a:xfrm>
          <a:custGeom>
            <a:avLst/>
            <a:gdLst/>
            <a:ahLst/>
            <a:cxnLst/>
            <a:rect l="l" t="t" r="r" b="b"/>
            <a:pathLst>
              <a:path w="1594082" h="836893">
                <a:moveTo>
                  <a:pt x="0" y="0"/>
                </a:moveTo>
                <a:lnTo>
                  <a:pt x="1594082" y="0"/>
                </a:lnTo>
                <a:lnTo>
                  <a:pt x="1594082" y="836893"/>
                </a:lnTo>
                <a:lnTo>
                  <a:pt x="0" y="836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1318" y="5573755"/>
            <a:ext cx="4803035" cy="2401518"/>
          </a:xfrm>
          <a:custGeom>
            <a:avLst/>
            <a:gdLst/>
            <a:ahLst/>
            <a:cxnLst/>
            <a:rect l="l" t="t" r="r" b="b"/>
            <a:pathLst>
              <a:path w="4803035" h="2401518">
                <a:moveTo>
                  <a:pt x="0" y="0"/>
                </a:moveTo>
                <a:lnTo>
                  <a:pt x="4803035" y="0"/>
                </a:lnTo>
                <a:lnTo>
                  <a:pt x="4803035" y="2401518"/>
                </a:lnTo>
                <a:lnTo>
                  <a:pt x="0" y="24015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5428505" y="4683274"/>
            <a:ext cx="1728737" cy="666631"/>
            <a:chOff x="0" y="0"/>
            <a:chExt cx="658567" cy="2539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58567" cy="253955"/>
            </a:xfrm>
            <a:custGeom>
              <a:avLst/>
              <a:gdLst/>
              <a:ahLst/>
              <a:cxnLst/>
              <a:rect l="l" t="t" r="r" b="b"/>
              <a:pathLst>
                <a:path w="658567" h="253955">
                  <a:moveTo>
                    <a:pt x="0" y="0"/>
                  </a:moveTo>
                  <a:lnTo>
                    <a:pt x="658567" y="0"/>
                  </a:lnTo>
                  <a:lnTo>
                    <a:pt x="658567" y="253955"/>
                  </a:lnTo>
                  <a:lnTo>
                    <a:pt x="0" y="253955"/>
                  </a:lnTo>
                  <a:close/>
                </a:path>
              </a:pathLst>
            </a:custGeom>
            <a:solidFill>
              <a:srgbClr val="E5E7E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658567" cy="282530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843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5118913" y="5511830"/>
            <a:ext cx="2471569" cy="2477718"/>
          </a:xfrm>
          <a:custGeom>
            <a:avLst/>
            <a:gdLst/>
            <a:ahLst/>
            <a:cxnLst/>
            <a:rect l="l" t="t" r="r" b="b"/>
            <a:pathLst>
              <a:path w="2471569" h="2477718">
                <a:moveTo>
                  <a:pt x="0" y="0"/>
                </a:moveTo>
                <a:lnTo>
                  <a:pt x="2471569" y="0"/>
                </a:lnTo>
                <a:lnTo>
                  <a:pt x="2471569" y="2477718"/>
                </a:lnTo>
                <a:lnTo>
                  <a:pt x="0" y="2477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0" y="1050336"/>
            <a:ext cx="7772400" cy="78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spc="2">
                <a:solidFill>
                  <a:srgbClr val="FFFFFF"/>
                </a:solidFill>
                <a:latin typeface="Alegreya"/>
                <a:ea typeface="Alegreya"/>
                <a:cs typeface="Alegreya"/>
                <a:sym typeface="Alegreya"/>
              </a:rPr>
              <a:t>MOVE: MOBILITY AND OPERATION OF VEHICLE ELECTRIFICATION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68946" y="2345614"/>
            <a:ext cx="7841346" cy="291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</a:pPr>
            <a:r>
              <a:rPr lang="en-US" sz="1838">
                <a:solidFill>
                  <a:srgbClr val="FFFFFF"/>
                </a:solidFill>
                <a:latin typeface="Alegreya"/>
                <a:ea typeface="Alegreya"/>
                <a:cs typeface="Alegreya"/>
                <a:sym typeface="Alegreya"/>
              </a:rPr>
              <a:t>EV CERTIFICATION PROGRAM FOR ENGINEERS, PLANNERS &amp; MANAGERS</a:t>
            </a:r>
          </a:p>
          <a:p>
            <a:pPr algn="ctr">
              <a:lnSpc>
                <a:spcPts val="90"/>
              </a:lnSpc>
            </a:pPr>
            <a:endParaRPr lang="en-US" sz="1838">
              <a:solidFill>
                <a:srgbClr val="FFFFFF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6266" y="2877153"/>
            <a:ext cx="4914952" cy="1933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36"/>
              </a:lnSpc>
            </a:pPr>
            <a:r>
              <a:rPr lang="en-US" sz="1863" spc="-68">
                <a:solidFill>
                  <a:srgbClr val="FFFFFF"/>
                </a:solidFill>
                <a:latin typeface="Alegreya"/>
                <a:ea typeface="Alegreya"/>
                <a:cs typeface="Alegreya"/>
                <a:sym typeface="Alegreya"/>
              </a:rPr>
              <a:t>Electric Vehicles (EVs) are not just about sustainability. They are about business transformation, operational efficiency, and competitive advantage. Whether you're a fleet operator, policymaker, investor, or industry leader, the shift to EVs presents new opportunities, challenges, and strategic decisions that will shape the future of transportation.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60955" y="3682313"/>
            <a:ext cx="2325179" cy="257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31"/>
              </a:lnSpc>
            </a:pPr>
            <a:r>
              <a:rPr lang="en-US" sz="1693" spc="-62">
                <a:solidFill>
                  <a:srgbClr val="FFFFFF"/>
                </a:solidFill>
                <a:latin typeface="Alegreya"/>
                <a:ea typeface="Alegreya"/>
                <a:cs typeface="Alegreya"/>
                <a:sym typeface="Alegreya"/>
              </a:rPr>
              <a:t>STARTS APRIL 11, 2025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9751" y="8486512"/>
            <a:ext cx="1594182" cy="877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759"/>
              </a:lnSpc>
            </a:pPr>
            <a:r>
              <a:rPr lang="en-US" sz="1599" spc="-59">
                <a:solidFill>
                  <a:srgbClr val="292D33"/>
                </a:solidFill>
                <a:latin typeface="Alegreya"/>
                <a:ea typeface="Alegreya"/>
                <a:cs typeface="Alegreya"/>
                <a:sym typeface="Alegreya"/>
              </a:rPr>
              <a:t>ELE</a:t>
            </a:r>
            <a:r>
              <a:rPr lang="en-US" sz="1599" u="none" strike="noStrike" spc="-59">
                <a:solidFill>
                  <a:srgbClr val="292D33"/>
                </a:solidFill>
                <a:latin typeface="Alegreya"/>
                <a:ea typeface="Alegreya"/>
                <a:cs typeface="Alegreya"/>
                <a:sym typeface="Alegreya"/>
              </a:rPr>
              <a:t>CTRIC VEHICLE SYSTEMS AND FUTURE OF MOBILITY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70598" y="8486522"/>
            <a:ext cx="2213221" cy="877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9"/>
              </a:lnSpc>
              <a:spcBef>
                <a:spcPct val="0"/>
              </a:spcBef>
            </a:pPr>
            <a:r>
              <a:rPr lang="en-US" sz="1599" spc="-59">
                <a:solidFill>
                  <a:srgbClr val="292D33"/>
                </a:solidFill>
                <a:latin typeface="Alegreya"/>
                <a:ea typeface="Alegreya"/>
                <a:cs typeface="Alegreya"/>
                <a:sym typeface="Alegreya"/>
              </a:rPr>
              <a:t>POWERING ELECTRIC VEHICLES: INF</a:t>
            </a:r>
            <a:r>
              <a:rPr lang="en-US" sz="1599" u="none" strike="noStrike" spc="-59">
                <a:solidFill>
                  <a:srgbClr val="292D33"/>
                </a:solidFill>
                <a:latin typeface="Alegreya"/>
                <a:ea typeface="Alegreya"/>
                <a:cs typeface="Alegreya"/>
                <a:sym typeface="Alegreya"/>
              </a:rPr>
              <a:t>RASTRUCTURE &amp; ENERGY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02016" y="8486522"/>
            <a:ext cx="1658874" cy="658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9"/>
              </a:lnSpc>
              <a:spcBef>
                <a:spcPct val="0"/>
              </a:spcBef>
            </a:pPr>
            <a:r>
              <a:rPr lang="en-US" sz="1599" spc="-59">
                <a:solidFill>
                  <a:srgbClr val="292D33"/>
                </a:solidFill>
                <a:latin typeface="Alegreya"/>
                <a:ea typeface="Alegreya"/>
                <a:cs typeface="Alegreya"/>
                <a:sym typeface="Alegreya"/>
              </a:rPr>
              <a:t>SUSTAINABLE URBAN MOBILITY &amp; POLICY PLANNING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16941" y="8490284"/>
            <a:ext cx="1265708" cy="658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9"/>
              </a:lnSpc>
              <a:spcBef>
                <a:spcPct val="0"/>
              </a:spcBef>
            </a:pPr>
            <a:r>
              <a:rPr lang="en-US" sz="1599" spc="-59">
                <a:solidFill>
                  <a:srgbClr val="071027"/>
                </a:solidFill>
                <a:latin typeface="Alegreya"/>
                <a:ea typeface="Alegreya"/>
                <a:cs typeface="Alegreya"/>
                <a:sym typeface="Alegreya"/>
              </a:rPr>
              <a:t>ECONOMICS &amp; STRATEGY FOR EV ADOPTION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66604" y="9673535"/>
            <a:ext cx="5048433" cy="17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54"/>
              </a:lnSpc>
              <a:spcBef>
                <a:spcPct val="0"/>
              </a:spcBef>
            </a:pPr>
            <a:r>
              <a:rPr lang="en-US" sz="1128" spc="-41">
                <a:solidFill>
                  <a:srgbClr val="FFFFFF"/>
                </a:solidFill>
                <a:latin typeface="Alegreya"/>
                <a:ea typeface="Alegreya"/>
                <a:cs typeface="Alegreya"/>
                <a:sym typeface="Alegreya"/>
              </a:rPr>
              <a:t>C-TIER,UNIVERSITY OF MEMPHIS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740095" y="1958973"/>
            <a:ext cx="4032305" cy="19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9"/>
              </a:lnSpc>
              <a:spcBef>
                <a:spcPct val="0"/>
              </a:spcBef>
            </a:pPr>
            <a:r>
              <a:rPr lang="en-US" sz="1399" spc="-51">
                <a:solidFill>
                  <a:srgbClr val="FFFFFF"/>
                </a:solidFill>
                <a:latin typeface="Alegreya"/>
                <a:ea typeface="Alegreya"/>
                <a:cs typeface="Alegreya"/>
                <a:sym typeface="Alegreya"/>
              </a:rPr>
              <a:t>EMPOWERING THE FUTURE OF ELECTRIC MOBILITY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4268" y="5016589"/>
            <a:ext cx="4256367" cy="247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7"/>
              </a:lnSpc>
              <a:spcBef>
                <a:spcPct val="0"/>
              </a:spcBef>
            </a:pPr>
            <a:r>
              <a:rPr lang="en-US" sz="1631">
                <a:solidFill>
                  <a:srgbClr val="FFFFFF"/>
                </a:solidFill>
                <a:latin typeface="Alegreya"/>
                <a:ea typeface="Alegreya"/>
                <a:cs typeface="Alegreya"/>
                <a:sym typeface="Alegreya"/>
              </a:rPr>
              <a:t>8 EXPERT-LED INTERACTIVE SESSIONS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46037" y="8144960"/>
            <a:ext cx="2736612" cy="166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7"/>
              </a:lnSpc>
              <a:spcBef>
                <a:spcPct val="0"/>
              </a:spcBef>
            </a:pPr>
            <a:r>
              <a:rPr lang="en-US" sz="1123">
                <a:solidFill>
                  <a:srgbClr val="071027"/>
                </a:solidFill>
                <a:latin typeface="Alegreya"/>
                <a:ea typeface="Alegreya"/>
                <a:cs typeface="Alegreya"/>
                <a:sym typeface="Alegreya"/>
              </a:rPr>
              <a:t>COMPLETE THE SHORT FORM (~10 MINS)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79841" y="4711656"/>
            <a:ext cx="1549713" cy="647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53"/>
              </a:lnSpc>
            </a:pPr>
            <a:r>
              <a:rPr lang="en-US" sz="2127" spc="-78">
                <a:solidFill>
                  <a:srgbClr val="071027"/>
                </a:solidFill>
                <a:latin typeface="Alegreya"/>
                <a:ea typeface="Alegreya"/>
                <a:cs typeface="Alegreya"/>
                <a:sym typeface="Alegreya"/>
              </a:rPr>
              <a:t>REGISTER   FOR   FREE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MOVE: Mobility and Operation of Vehicle Electrification</dc:title>
  <cp:lastModifiedBy>Jaya Prakash Narayana Raavi (jraavi)</cp:lastModifiedBy>
  <cp:revision>8</cp:revision>
  <dcterms:created xsi:type="dcterms:W3CDTF">2006-08-16T00:00:00Z</dcterms:created>
  <dcterms:modified xsi:type="dcterms:W3CDTF">2025-03-31T05:04:40Z</dcterms:modified>
  <dc:identifier>DAGjB_64V_4</dc:identifier>
</cp:coreProperties>
</file>