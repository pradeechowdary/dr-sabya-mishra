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219456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81B385-B109-5EFE-237F-094C554416C9}" name="Sabyasachee Mishra (smishra3)" initials="SM(" userId="S::smishra3@memphis.edu::c01d7e43-6a02-4616-ba67-98d58ca7209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99"/>
    <a:srgbClr val="1F5DAB"/>
    <a:srgbClr val="FFFFFF"/>
    <a:srgbClr val="2F539F"/>
    <a:srgbClr val="4E618B"/>
    <a:srgbClr val="5087A5"/>
    <a:srgbClr val="729CA4"/>
    <a:srgbClr val="8DB8EB"/>
    <a:srgbClr val="B4D0F2"/>
    <a:srgbClr val="3666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C9E072-4218-403D-AACC-F14DC1A5643A}" v="8" dt="2025-03-31T05:02:15.367"/>
    <p1510:client id="{E7124B6D-FBDA-35EB-E039-FB423FF9D010}" v="2" dt="2025-04-01T14:46:56.2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2" d="100"/>
          <a:sy n="22" d="100"/>
        </p:scale>
        <p:origin x="328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microsoft.com/office/2018/10/relationships/authors" Target="author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wan Neupane (pnupane1)" userId="S::pnupane1@memphis.edu::25e64031-aa31-455a-9829-9a61b3c704f0" providerId="AD" clId="Web-{E7124B6D-FBDA-35EB-E039-FB423FF9D010}"/>
    <pc:docChg chg="modSld">
      <pc:chgData name="Pawan Neupane (pnupane1)" userId="S::pnupane1@memphis.edu::25e64031-aa31-455a-9829-9a61b3c704f0" providerId="AD" clId="Web-{E7124B6D-FBDA-35EB-E039-FB423FF9D010}" dt="2025-04-01T14:46:54.528" v="0" actId="20577"/>
      <pc:docMkLst>
        <pc:docMk/>
      </pc:docMkLst>
      <pc:sldChg chg="modSp">
        <pc:chgData name="Pawan Neupane (pnupane1)" userId="S::pnupane1@memphis.edu::25e64031-aa31-455a-9829-9a61b3c704f0" providerId="AD" clId="Web-{E7124B6D-FBDA-35EB-E039-FB423FF9D010}" dt="2025-04-01T14:46:54.528" v="0" actId="20577"/>
        <pc:sldMkLst>
          <pc:docMk/>
          <pc:sldMk cId="1460432089" sldId="256"/>
        </pc:sldMkLst>
        <pc:spChg chg="mod">
          <ac:chgData name="Pawan Neupane (pnupane1)" userId="S::pnupane1@memphis.edu::25e64031-aa31-455a-9829-9a61b3c704f0" providerId="AD" clId="Web-{E7124B6D-FBDA-35EB-E039-FB423FF9D010}" dt="2025-04-01T14:46:54.528" v="0" actId="20577"/>
          <ac:spMkLst>
            <pc:docMk/>
            <pc:sldMk cId="1460432089" sldId="256"/>
            <ac:spMk id="12" creationId="{EE8EEB9B-1E52-1A2A-E3AE-9C5C190A9980}"/>
          </ac:spMkLst>
        </pc:spChg>
      </pc:sldChg>
    </pc:docChg>
  </pc:docChgLst>
  <pc:docChgLst>
    <pc:chgData name="Aman Agrawal (agrawal2)" userId="8c28279b-8179-4dce-b210-2d2fd5dbc7c5" providerId="ADAL" clId="{23C9E072-4218-403D-AACC-F14DC1A5643A}"/>
    <pc:docChg chg="undo custSel modSld">
      <pc:chgData name="Aman Agrawal (agrawal2)" userId="8c28279b-8179-4dce-b210-2d2fd5dbc7c5" providerId="ADAL" clId="{23C9E072-4218-403D-AACC-F14DC1A5643A}" dt="2025-03-31T05:02:51.306" v="26" actId="207"/>
      <pc:docMkLst>
        <pc:docMk/>
      </pc:docMkLst>
      <pc:sldChg chg="addSp delSp modSp mod">
        <pc:chgData name="Aman Agrawal (agrawal2)" userId="8c28279b-8179-4dce-b210-2d2fd5dbc7c5" providerId="ADAL" clId="{23C9E072-4218-403D-AACC-F14DC1A5643A}" dt="2025-03-31T05:02:51.306" v="26" actId="207"/>
        <pc:sldMkLst>
          <pc:docMk/>
          <pc:sldMk cId="1460432089" sldId="256"/>
        </pc:sldMkLst>
        <pc:spChg chg="mod">
          <ac:chgData name="Aman Agrawal (agrawal2)" userId="8c28279b-8179-4dce-b210-2d2fd5dbc7c5" providerId="ADAL" clId="{23C9E072-4218-403D-AACC-F14DC1A5643A}" dt="2025-03-31T05:02:30.965" v="22" actId="1076"/>
          <ac:spMkLst>
            <pc:docMk/>
            <pc:sldMk cId="1460432089" sldId="256"/>
            <ac:spMk id="4" creationId="{591EB96E-509A-B90E-83AF-5B4E3B220739}"/>
          </ac:spMkLst>
        </pc:spChg>
        <pc:spChg chg="mod">
          <ac:chgData name="Aman Agrawal (agrawal2)" userId="8c28279b-8179-4dce-b210-2d2fd5dbc7c5" providerId="ADAL" clId="{23C9E072-4218-403D-AACC-F14DC1A5643A}" dt="2025-03-31T04:53:05.862" v="5" actId="242"/>
          <ac:spMkLst>
            <pc:docMk/>
            <pc:sldMk cId="1460432089" sldId="256"/>
            <ac:spMk id="1029" creationId="{B52A76CB-1A5E-630A-8BB5-43D859478F94}"/>
          </ac:spMkLst>
        </pc:spChg>
        <pc:picChg chg="add mod">
          <ac:chgData name="Aman Agrawal (agrawal2)" userId="8c28279b-8179-4dce-b210-2d2fd5dbc7c5" providerId="ADAL" clId="{23C9E072-4218-403D-AACC-F14DC1A5643A}" dt="2025-03-31T05:02:51.306" v="26" actId="207"/>
          <ac:picMkLst>
            <pc:docMk/>
            <pc:sldMk cId="1460432089" sldId="256"/>
            <ac:picMk id="5" creationId="{61917B26-971E-150D-8807-B9023A2BF73E}"/>
          </ac:picMkLst>
        </pc:picChg>
        <pc:picChg chg="add del mod">
          <ac:chgData name="Aman Agrawal (agrawal2)" userId="8c28279b-8179-4dce-b210-2d2fd5dbc7c5" providerId="ADAL" clId="{23C9E072-4218-403D-AACC-F14DC1A5643A}" dt="2025-03-31T05:01:46.272" v="11" actId="478"/>
          <ac:picMkLst>
            <pc:docMk/>
            <pc:sldMk cId="1460432089" sldId="256"/>
            <ac:picMk id="1026" creationId="{61FF9470-DEF1-6536-3273-6D8C86DD9CEB}"/>
          </ac:picMkLst>
        </pc:picChg>
        <pc:picChg chg="del">
          <ac:chgData name="Aman Agrawal (agrawal2)" userId="8c28279b-8179-4dce-b210-2d2fd5dbc7c5" providerId="ADAL" clId="{23C9E072-4218-403D-AACC-F14DC1A5643A}" dt="2025-03-31T05:02:19.889" v="14" actId="478"/>
          <ac:picMkLst>
            <pc:docMk/>
            <pc:sldMk cId="1460432089" sldId="256"/>
            <ac:picMk id="1151" creationId="{E0C1153C-00CF-8940-32F8-2D955B13976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41525-DA31-49F5-8EA9-CAE88E97F14C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00300" y="1143000"/>
            <a:ext cx="2057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9654B-5CD2-4CAC-A753-7F043C04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35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9654B-5CD2-4CAC-A753-7F043C0426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5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5387342"/>
            <a:ext cx="18653760" cy="11460480"/>
          </a:xfrm>
        </p:spPr>
        <p:txBody>
          <a:bodyPr anchor="b"/>
          <a:lstStyle>
            <a:lvl1pPr algn="ctr">
              <a:defRPr sz="1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17289782"/>
            <a:ext cx="16459200" cy="7947658"/>
          </a:xfrm>
        </p:spPr>
        <p:txBody>
          <a:bodyPr/>
          <a:lstStyle>
            <a:lvl1pPr marL="0" indent="0" algn="ctr">
              <a:buNone/>
              <a:defRPr sz="5760"/>
            </a:lvl1pPr>
            <a:lvl2pPr marL="1097280" indent="0" algn="ctr">
              <a:buNone/>
              <a:defRPr sz="4800"/>
            </a:lvl2pPr>
            <a:lvl3pPr marL="2194560" indent="0" algn="ctr">
              <a:buNone/>
              <a:defRPr sz="4320"/>
            </a:lvl3pPr>
            <a:lvl4pPr marL="3291840" indent="0" algn="ctr">
              <a:buNone/>
              <a:defRPr sz="3840"/>
            </a:lvl4pPr>
            <a:lvl5pPr marL="4389120" indent="0" algn="ctr">
              <a:buNone/>
              <a:defRPr sz="3840"/>
            </a:lvl5pPr>
            <a:lvl6pPr marL="5486400" indent="0" algn="ctr">
              <a:buNone/>
              <a:defRPr sz="3840"/>
            </a:lvl6pPr>
            <a:lvl7pPr marL="6583680" indent="0" algn="ctr">
              <a:buNone/>
              <a:defRPr sz="3840"/>
            </a:lvl7pPr>
            <a:lvl8pPr marL="7680960" indent="0" algn="ctr">
              <a:buNone/>
              <a:defRPr sz="3840"/>
            </a:lvl8pPr>
            <a:lvl9pPr marL="8778240" indent="0" algn="ctr">
              <a:buNone/>
              <a:defRPr sz="384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781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63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7331" y="8206749"/>
            <a:ext cx="18928080" cy="13693138"/>
          </a:xfrm>
        </p:spPr>
        <p:txBody>
          <a:bodyPr anchor="b"/>
          <a:lstStyle>
            <a:lvl1pPr>
              <a:defRPr sz="1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7331" y="22029429"/>
            <a:ext cx="18928080" cy="7200898"/>
          </a:xfrm>
        </p:spPr>
        <p:txBody>
          <a:bodyPr/>
          <a:lstStyle>
            <a:lvl1pPr marL="0" indent="0">
              <a:buNone/>
              <a:defRPr sz="5760">
                <a:solidFill>
                  <a:schemeClr val="tx1"/>
                </a:solidFill>
              </a:defRPr>
            </a:lvl1pPr>
            <a:lvl2pPr marL="109728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2pPr>
            <a:lvl3pPr marL="219456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3pPr>
            <a:lvl4pPr marL="329184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4pPr>
            <a:lvl5pPr marL="438912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5pPr>
            <a:lvl6pPr marL="548640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6pPr>
            <a:lvl7pPr marL="658368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7pPr>
            <a:lvl8pPr marL="768096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8pPr>
            <a:lvl9pPr marL="877824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095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8760" y="8763000"/>
            <a:ext cx="93268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09960" y="8763000"/>
            <a:ext cx="93268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5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8" y="1752607"/>
            <a:ext cx="1892808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621" y="8069582"/>
            <a:ext cx="9284016" cy="3954778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1621" y="12024360"/>
            <a:ext cx="9284016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09961" y="8069582"/>
            <a:ext cx="9329738" cy="3954778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09961" y="12024360"/>
            <a:ext cx="9329738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806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36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805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2194560"/>
            <a:ext cx="7078027" cy="768096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9738" y="4739647"/>
            <a:ext cx="11109960" cy="23393400"/>
          </a:xfrm>
        </p:spPr>
        <p:txBody>
          <a:bodyPr/>
          <a:lstStyle>
            <a:lvl1pPr>
              <a:defRPr sz="7680"/>
            </a:lvl1pPr>
            <a:lvl2pPr>
              <a:defRPr sz="6720"/>
            </a:lvl2pPr>
            <a:lvl3pPr>
              <a:defRPr sz="5760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9875520"/>
            <a:ext cx="7078027" cy="18295622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212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2194560"/>
            <a:ext cx="7078027" cy="768096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29738" y="4739647"/>
            <a:ext cx="11109960" cy="23393400"/>
          </a:xfrm>
        </p:spPr>
        <p:txBody>
          <a:bodyPr anchor="t"/>
          <a:lstStyle>
            <a:lvl1pPr marL="0" indent="0">
              <a:buNone/>
              <a:defRPr sz="7680"/>
            </a:lvl1pPr>
            <a:lvl2pPr marL="1097280" indent="0">
              <a:buNone/>
              <a:defRPr sz="6720"/>
            </a:lvl2pPr>
            <a:lvl3pPr marL="2194560" indent="0">
              <a:buNone/>
              <a:defRPr sz="5760"/>
            </a:lvl3pPr>
            <a:lvl4pPr marL="3291840" indent="0">
              <a:buNone/>
              <a:defRPr sz="4800"/>
            </a:lvl4pPr>
            <a:lvl5pPr marL="4389120" indent="0">
              <a:buNone/>
              <a:defRPr sz="4800"/>
            </a:lvl5pPr>
            <a:lvl6pPr marL="5486400" indent="0">
              <a:buNone/>
              <a:defRPr sz="4800"/>
            </a:lvl6pPr>
            <a:lvl7pPr marL="6583680" indent="0">
              <a:buNone/>
              <a:defRPr sz="4800"/>
            </a:lvl7pPr>
            <a:lvl8pPr marL="7680960" indent="0">
              <a:buNone/>
              <a:defRPr sz="4800"/>
            </a:lvl8pPr>
            <a:lvl9pPr marL="8778240" indent="0">
              <a:buNone/>
              <a:defRPr sz="48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9875520"/>
            <a:ext cx="7078027" cy="18295622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022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31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704821" y="1752600"/>
            <a:ext cx="473202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8761" y="1752600"/>
            <a:ext cx="1392174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12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8760" y="1752607"/>
            <a:ext cx="1892808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8760" y="8763000"/>
            <a:ext cx="1892808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08760" y="30510487"/>
            <a:ext cx="49377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735F8-584B-4E3A-A4E1-D54F6296D31C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9480" y="30510487"/>
            <a:ext cx="74066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99080" y="30510487"/>
            <a:ext cx="49377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95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05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Rectangle 1131">
            <a:extLst>
              <a:ext uri="{FF2B5EF4-FFF2-40B4-BE49-F238E27FC236}">
                <a16:creationId xmlns:a16="http://schemas.microsoft.com/office/drawing/2014/main" id="{1990A620-3B2E-8056-C61D-34BB7F56356D}"/>
              </a:ext>
            </a:extLst>
          </p:cNvPr>
          <p:cNvSpPr/>
          <p:nvPr/>
        </p:nvSpPr>
        <p:spPr>
          <a:xfrm>
            <a:off x="0" y="4402356"/>
            <a:ext cx="21933568" cy="36887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FE1AF5AD-3A4C-C184-630E-A6252B914B68}"/>
              </a:ext>
            </a:extLst>
          </p:cNvPr>
          <p:cNvSpPr/>
          <p:nvPr/>
        </p:nvSpPr>
        <p:spPr>
          <a:xfrm>
            <a:off x="0" y="8117856"/>
            <a:ext cx="21933568" cy="6749187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24F4B3C3-DCD0-D043-BAC8-C3565C3B8240}"/>
              </a:ext>
            </a:extLst>
          </p:cNvPr>
          <p:cNvSpPr/>
          <p:nvPr/>
        </p:nvSpPr>
        <p:spPr>
          <a:xfrm>
            <a:off x="12032" y="14867043"/>
            <a:ext cx="21945600" cy="1775461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4C588DE-6639-0A0C-98D5-7E53CC284AC3}"/>
              </a:ext>
            </a:extLst>
          </p:cNvPr>
          <p:cNvSpPr/>
          <p:nvPr/>
        </p:nvSpPr>
        <p:spPr>
          <a:xfrm>
            <a:off x="2048467" y="8507915"/>
            <a:ext cx="1095273" cy="591206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451EB3-F053-4B1A-0EAE-80910598AB6F}"/>
              </a:ext>
            </a:extLst>
          </p:cNvPr>
          <p:cNvSpPr/>
          <p:nvPr/>
        </p:nvSpPr>
        <p:spPr>
          <a:xfrm>
            <a:off x="12032" y="4128036"/>
            <a:ext cx="21945600" cy="2743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1EB96E-509A-B90E-83AF-5B4E3B220739}"/>
              </a:ext>
            </a:extLst>
          </p:cNvPr>
          <p:cNvSpPr/>
          <p:nvPr/>
        </p:nvSpPr>
        <p:spPr>
          <a:xfrm>
            <a:off x="0" y="-1"/>
            <a:ext cx="21957632" cy="4114800"/>
          </a:xfrm>
          <a:prstGeom prst="rect">
            <a:avLst/>
          </a:prstGeom>
          <a:solidFill>
            <a:srgbClr val="00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47">
              <a:lnSpc>
                <a:spcPct val="114000"/>
              </a:lnSpc>
            </a:pPr>
            <a:endParaRPr lang="en-US" sz="6000" b="1" kern="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8EEB9B-1E52-1A2A-E3AE-9C5C190A9980}"/>
              </a:ext>
            </a:extLst>
          </p:cNvPr>
          <p:cNvSpPr/>
          <p:nvPr/>
        </p:nvSpPr>
        <p:spPr>
          <a:xfrm>
            <a:off x="4218039" y="2995204"/>
            <a:ext cx="12150224" cy="8666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182880" rIns="457200" bIns="182880" rtlCol="0" anchor="ctr"/>
          <a:lstStyle/>
          <a:p>
            <a:pPr algn="ctr"/>
            <a:r>
              <a:rPr lang="en-US" sz="4000" b="1" dirty="0">
                <a:solidFill>
                  <a:schemeClr val="accent4"/>
                </a:solidFill>
                <a:latin typeface="Times New Roman"/>
                <a:cs typeface="Times New Roman"/>
              </a:rPr>
              <a:t>Dr. Sabya Mishra (PI)</a:t>
            </a:r>
            <a:endParaRPr lang="en-US" sz="40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1766DC-2C46-EFFD-5ED1-2416DA1DE1CD}"/>
              </a:ext>
            </a:extLst>
          </p:cNvPr>
          <p:cNvSpPr/>
          <p:nvPr/>
        </p:nvSpPr>
        <p:spPr>
          <a:xfrm>
            <a:off x="0" y="32748708"/>
            <a:ext cx="21945600" cy="11555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Rectangle: Folded Corner 1028">
            <a:extLst>
              <a:ext uri="{FF2B5EF4-FFF2-40B4-BE49-F238E27FC236}">
                <a16:creationId xmlns:a16="http://schemas.microsoft.com/office/drawing/2014/main" id="{B52A76CB-1A5E-630A-8BB5-43D859478F94}"/>
              </a:ext>
            </a:extLst>
          </p:cNvPr>
          <p:cNvSpPr/>
          <p:nvPr/>
        </p:nvSpPr>
        <p:spPr>
          <a:xfrm>
            <a:off x="24065" y="4463440"/>
            <a:ext cx="21933568" cy="3566631"/>
          </a:xfrm>
          <a:prstGeom prst="foldedCorner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182880" rIns="457200" bIns="182880" rtlCol="0" anchor="ctr"/>
          <a:lstStyle/>
          <a:p>
            <a:pPr algn="just"/>
            <a:br>
              <a:rPr lang="en-US" sz="4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forecasting future land-use patterns, such as housing occupancy and land-use distributions, the model provides valuable insights for long-term planning and policy development. This integration bridges the gap between land use and transportation planning, enabling scenario analyses that account for planned zoning changes, infrastructure investments, and socio-economic shifts. </a:t>
            </a: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50" name="Picture 8">
            <a:extLst>
              <a:ext uri="{FF2B5EF4-FFF2-40B4-BE49-F238E27FC236}">
                <a16:creationId xmlns:a16="http://schemas.microsoft.com/office/drawing/2014/main" id="{9145A2C7-DEB7-66F3-6C72-DBFBC0CE0F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00"/>
          <a:stretch/>
        </p:blipFill>
        <p:spPr bwMode="auto">
          <a:xfrm>
            <a:off x="663588" y="296742"/>
            <a:ext cx="2400505" cy="356715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8BAFB7-CB14-F446-E376-EDDE2AD14E1E}"/>
              </a:ext>
            </a:extLst>
          </p:cNvPr>
          <p:cNvSpPr txBox="1"/>
          <p:nvPr/>
        </p:nvSpPr>
        <p:spPr>
          <a:xfrm>
            <a:off x="3889335" y="263655"/>
            <a:ext cx="124789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Tennessee Statewide Land Use Model Enhancements with Local Validation and Implementation 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174EFDB7-9B92-204D-3D39-EBBFC97872E9}"/>
              </a:ext>
            </a:extLst>
          </p:cNvPr>
          <p:cNvSpPr/>
          <p:nvPr/>
        </p:nvSpPr>
        <p:spPr>
          <a:xfrm flipH="1">
            <a:off x="3143740" y="8716276"/>
            <a:ext cx="17050167" cy="1236827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Upgradation of state’s Large Scale- Land Use Model (LS-LUM) to ensure compatibility with Tennessee Statewide Travel Model (TSTMv4).</a:t>
            </a: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BE1348B2-DAA6-6F67-32C8-7437DC8EB990}"/>
              </a:ext>
            </a:extLst>
          </p:cNvPr>
          <p:cNvSpPr/>
          <p:nvPr/>
        </p:nvSpPr>
        <p:spPr>
          <a:xfrm flipH="1">
            <a:off x="3143739" y="10080646"/>
            <a:ext cx="17050167" cy="1236826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Development of an integrated model platform that allows LS-LUM and TSTMv4 to operate from a single source.</a:t>
            </a:r>
          </a:p>
        </p:txBody>
      </p:sp>
      <p:sp>
        <p:nvSpPr>
          <p:cNvPr id="20" name="Arrow: Pentagon 19">
            <a:extLst>
              <a:ext uri="{FF2B5EF4-FFF2-40B4-BE49-F238E27FC236}">
                <a16:creationId xmlns:a16="http://schemas.microsoft.com/office/drawing/2014/main" id="{7918A54B-53FF-35B1-5AE0-D1DE248CCDB0}"/>
              </a:ext>
            </a:extLst>
          </p:cNvPr>
          <p:cNvSpPr/>
          <p:nvPr/>
        </p:nvSpPr>
        <p:spPr>
          <a:xfrm flipH="1">
            <a:off x="3201745" y="11579642"/>
            <a:ext cx="17050167" cy="1236826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Tight coupling of TSTMv4 and LS-LUM, enabling users to perform sequential runs seamlessly.</a:t>
            </a:r>
          </a:p>
        </p:txBody>
      </p:sp>
      <p:sp>
        <p:nvSpPr>
          <p:cNvPr id="22" name="Arrow: Pentagon 21">
            <a:extLst>
              <a:ext uri="{FF2B5EF4-FFF2-40B4-BE49-F238E27FC236}">
                <a16:creationId xmlns:a16="http://schemas.microsoft.com/office/drawing/2014/main" id="{5202AAA7-8C97-623B-E400-09023A71639E}"/>
              </a:ext>
            </a:extLst>
          </p:cNvPr>
          <p:cNvSpPr/>
          <p:nvPr/>
        </p:nvSpPr>
        <p:spPr>
          <a:xfrm flipH="1">
            <a:off x="3143739" y="13078638"/>
            <a:ext cx="17050167" cy="1236826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Creation of an offline visualization tool capable of generating dashboards for every LS-LUM forecasting scenario.</a:t>
            </a:r>
          </a:p>
        </p:txBody>
      </p:sp>
      <p:pic>
        <p:nvPicPr>
          <p:cNvPr id="27" name="Content Placeholder 5">
            <a:extLst>
              <a:ext uri="{FF2B5EF4-FFF2-40B4-BE49-F238E27FC236}">
                <a16:creationId xmlns:a16="http://schemas.microsoft.com/office/drawing/2014/main" id="{4FF034AA-0A24-FE64-6990-9F282A2B0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0868" y="14994093"/>
            <a:ext cx="6682978" cy="9467553"/>
          </a:xfrm>
          <a:prstGeom prst="rect">
            <a:avLst/>
          </a:prstGeom>
        </p:spPr>
      </p:pic>
      <p:pic>
        <p:nvPicPr>
          <p:cNvPr id="28" name="Picture 27" descr="A snapshot of the offline dashboard. The picture features different plots giving insights to  the forecasted population.">
            <a:extLst>
              <a:ext uri="{FF2B5EF4-FFF2-40B4-BE49-F238E27FC236}">
                <a16:creationId xmlns:a16="http://schemas.microsoft.com/office/drawing/2014/main" id="{B73E0D80-BB20-6F8D-A294-B708F2C8D1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179" y="24569249"/>
            <a:ext cx="20159764" cy="78772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20" name="Picture 1119">
            <a:extLst>
              <a:ext uri="{FF2B5EF4-FFF2-40B4-BE49-F238E27FC236}">
                <a16:creationId xmlns:a16="http://schemas.microsoft.com/office/drawing/2014/main" id="{75177AEC-E5B0-FF4A-AFFD-14D837397A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754" y="15236482"/>
            <a:ext cx="13608603" cy="84117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1917B26-971E-150D-8807-B9023A2BF7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743027" y="76223"/>
            <a:ext cx="7943118" cy="399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432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</TotalTime>
  <Words>147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The University of Memphis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Aman Agrawal</dc:creator>
  <cp:lastModifiedBy>Aman Agrawal (agrawal2)</cp:lastModifiedBy>
  <cp:revision>31</cp:revision>
  <dcterms:created xsi:type="dcterms:W3CDTF">2023-03-16T15:16:23Z</dcterms:created>
  <dcterms:modified xsi:type="dcterms:W3CDTF">2025-04-01T14:47:05Z</dcterms:modified>
</cp:coreProperties>
</file>