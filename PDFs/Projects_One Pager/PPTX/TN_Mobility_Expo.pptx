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81B385-B109-5EFE-237F-094C554416C9}" name="Sabyasachee Mishra (smishra3)" initials="SM(" userId="S::smishra3@memphis.edu::c01d7e43-6a02-4616-ba67-98d58ca7209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1F5DAB"/>
    <a:srgbClr val="FFFFFF"/>
    <a:srgbClr val="2F539F"/>
    <a:srgbClr val="4E618B"/>
    <a:srgbClr val="5087A5"/>
    <a:srgbClr val="729CA4"/>
    <a:srgbClr val="8DB8EB"/>
    <a:srgbClr val="B4D0F2"/>
    <a:srgbClr val="3666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2668BC-68E3-4389-8248-54D61B39C5EF}" v="1" dt="2025-03-10T18:25:15.6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2058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41525-DA31-49F5-8EA9-CAE88E97F14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9654B-5CD2-4CAC-A753-7F043C042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5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99654B-5CD2-4CAC-A753-7F043C04267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54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5387342"/>
            <a:ext cx="18653760" cy="11460480"/>
          </a:xfrm>
        </p:spPr>
        <p:txBody>
          <a:bodyPr anchor="b"/>
          <a:lstStyle>
            <a:lvl1pPr algn="ctr"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17289782"/>
            <a:ext cx="16459200" cy="7947658"/>
          </a:xfrm>
        </p:spPr>
        <p:txBody>
          <a:bodyPr/>
          <a:lstStyle>
            <a:lvl1pPr marL="0" indent="0" algn="ctr">
              <a:buNone/>
              <a:defRPr sz="5760"/>
            </a:lvl1pPr>
            <a:lvl2pPr marL="1097280" indent="0" algn="ctr">
              <a:buNone/>
              <a:defRPr sz="4800"/>
            </a:lvl2pPr>
            <a:lvl3pPr marL="2194560" indent="0" algn="ctr">
              <a:buNone/>
              <a:defRPr sz="4320"/>
            </a:lvl3pPr>
            <a:lvl4pPr marL="3291840" indent="0" algn="ctr">
              <a:buNone/>
              <a:defRPr sz="3840"/>
            </a:lvl4pPr>
            <a:lvl5pPr marL="4389120" indent="0" algn="ctr">
              <a:buNone/>
              <a:defRPr sz="3840"/>
            </a:lvl5pPr>
            <a:lvl6pPr marL="5486400" indent="0" algn="ctr">
              <a:buNone/>
              <a:defRPr sz="3840"/>
            </a:lvl6pPr>
            <a:lvl7pPr marL="6583680" indent="0" algn="ctr">
              <a:buNone/>
              <a:defRPr sz="3840"/>
            </a:lvl7pPr>
            <a:lvl8pPr marL="7680960" indent="0" algn="ctr">
              <a:buNone/>
              <a:defRPr sz="3840"/>
            </a:lvl8pPr>
            <a:lvl9pPr marL="8778240" indent="0" algn="ctr">
              <a:buNone/>
              <a:defRPr sz="384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781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63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7331" y="8206749"/>
            <a:ext cx="18928080" cy="13693138"/>
          </a:xfrm>
        </p:spPr>
        <p:txBody>
          <a:bodyPr anchor="b"/>
          <a:lstStyle>
            <a:lvl1pPr>
              <a:defRPr sz="1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7331" y="22029429"/>
            <a:ext cx="18928080" cy="7200898"/>
          </a:xfrm>
        </p:spPr>
        <p:txBody>
          <a:bodyPr/>
          <a:lstStyle>
            <a:lvl1pPr marL="0" indent="0">
              <a:buNone/>
              <a:defRPr sz="5760">
                <a:solidFill>
                  <a:schemeClr val="tx1"/>
                </a:solidFill>
              </a:defRPr>
            </a:lvl1pPr>
            <a:lvl2pPr marL="109728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2pPr>
            <a:lvl3pPr marL="2194560" indent="0">
              <a:buNone/>
              <a:defRPr sz="4320">
                <a:solidFill>
                  <a:schemeClr val="tx1">
                    <a:tint val="75000"/>
                  </a:schemeClr>
                </a:solidFill>
              </a:defRPr>
            </a:lvl3pPr>
            <a:lvl4pPr marL="32918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4pPr>
            <a:lvl5pPr marL="438912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5pPr>
            <a:lvl6pPr marL="548640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6pPr>
            <a:lvl7pPr marL="658368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7pPr>
            <a:lvl8pPr marL="768096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8pPr>
            <a:lvl9pPr marL="8778240" indent="0">
              <a:buNone/>
              <a:defRPr sz="3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95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87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09960" y="8763000"/>
            <a:ext cx="932688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5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8" y="1752607"/>
            <a:ext cx="1892808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621" y="8069582"/>
            <a:ext cx="9284016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11621" y="12024360"/>
            <a:ext cx="9284016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109961" y="8069582"/>
            <a:ext cx="9329738" cy="3954778"/>
          </a:xfrm>
        </p:spPr>
        <p:txBody>
          <a:bodyPr anchor="b"/>
          <a:lstStyle>
            <a:lvl1pPr marL="0" indent="0">
              <a:buNone/>
              <a:defRPr sz="5760" b="1"/>
            </a:lvl1pPr>
            <a:lvl2pPr marL="1097280" indent="0">
              <a:buNone/>
              <a:defRPr sz="4800" b="1"/>
            </a:lvl2pPr>
            <a:lvl3pPr marL="2194560" indent="0">
              <a:buNone/>
              <a:defRPr sz="4320" b="1"/>
            </a:lvl3pPr>
            <a:lvl4pPr marL="3291840" indent="0">
              <a:buNone/>
              <a:defRPr sz="3840" b="1"/>
            </a:lvl4pPr>
            <a:lvl5pPr marL="4389120" indent="0">
              <a:buNone/>
              <a:defRPr sz="3840" b="1"/>
            </a:lvl5pPr>
            <a:lvl6pPr marL="5486400" indent="0">
              <a:buNone/>
              <a:defRPr sz="3840" b="1"/>
            </a:lvl6pPr>
            <a:lvl7pPr marL="6583680" indent="0">
              <a:buNone/>
              <a:defRPr sz="3840" b="1"/>
            </a:lvl7pPr>
            <a:lvl8pPr marL="7680960" indent="0">
              <a:buNone/>
              <a:defRPr sz="3840" b="1"/>
            </a:lvl8pPr>
            <a:lvl9pPr marL="8778240" indent="0">
              <a:buNone/>
              <a:defRPr sz="3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109961" y="12024360"/>
            <a:ext cx="9329738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80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0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29738" y="4739647"/>
            <a:ext cx="11109960" cy="23393400"/>
          </a:xfrm>
        </p:spPr>
        <p:txBody>
          <a:bodyPr/>
          <a:lstStyle>
            <a:lvl1pPr>
              <a:defRPr sz="7680"/>
            </a:lvl1pPr>
            <a:lvl2pPr>
              <a:defRPr sz="6720"/>
            </a:lvl2pPr>
            <a:lvl3pPr>
              <a:defRPr sz="5760"/>
            </a:lvl3pPr>
            <a:lvl4pPr>
              <a:defRPr sz="4800"/>
            </a:lvl4pPr>
            <a:lvl5pPr>
              <a:defRPr sz="4800"/>
            </a:lvl5pPr>
            <a:lvl6pPr>
              <a:defRPr sz="4800"/>
            </a:lvl6pPr>
            <a:lvl7pPr>
              <a:defRPr sz="4800"/>
            </a:lvl7pPr>
            <a:lvl8pPr>
              <a:defRPr sz="4800"/>
            </a:lvl8pPr>
            <a:lvl9pPr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212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619" y="2194560"/>
            <a:ext cx="7078027" cy="7680960"/>
          </a:xfrm>
        </p:spPr>
        <p:txBody>
          <a:bodyPr anchor="b"/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329738" y="4739647"/>
            <a:ext cx="11109960" cy="23393400"/>
          </a:xfrm>
        </p:spPr>
        <p:txBody>
          <a:bodyPr anchor="t"/>
          <a:lstStyle>
            <a:lvl1pPr marL="0" indent="0">
              <a:buNone/>
              <a:defRPr sz="7680"/>
            </a:lvl1pPr>
            <a:lvl2pPr marL="1097280" indent="0">
              <a:buNone/>
              <a:defRPr sz="6720"/>
            </a:lvl2pPr>
            <a:lvl3pPr marL="2194560" indent="0">
              <a:buNone/>
              <a:defRPr sz="5760"/>
            </a:lvl3pPr>
            <a:lvl4pPr marL="3291840" indent="0">
              <a:buNone/>
              <a:defRPr sz="4800"/>
            </a:lvl4pPr>
            <a:lvl5pPr marL="4389120" indent="0">
              <a:buNone/>
              <a:defRPr sz="4800"/>
            </a:lvl5pPr>
            <a:lvl6pPr marL="5486400" indent="0">
              <a:buNone/>
              <a:defRPr sz="4800"/>
            </a:lvl6pPr>
            <a:lvl7pPr marL="6583680" indent="0">
              <a:buNone/>
              <a:defRPr sz="4800"/>
            </a:lvl7pPr>
            <a:lvl8pPr marL="7680960" indent="0">
              <a:buNone/>
              <a:defRPr sz="4800"/>
            </a:lvl8pPr>
            <a:lvl9pPr marL="8778240" indent="0">
              <a:buNone/>
              <a:defRPr sz="48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11619" y="9875520"/>
            <a:ext cx="7078027" cy="18295622"/>
          </a:xfrm>
        </p:spPr>
        <p:txBody>
          <a:bodyPr/>
          <a:lstStyle>
            <a:lvl1pPr marL="0" indent="0">
              <a:buNone/>
              <a:defRPr sz="3840"/>
            </a:lvl1pPr>
            <a:lvl2pPr marL="1097280" indent="0">
              <a:buNone/>
              <a:defRPr sz="3360"/>
            </a:lvl2pPr>
            <a:lvl3pPr marL="2194560" indent="0">
              <a:buNone/>
              <a:defRPr sz="2880"/>
            </a:lvl3pPr>
            <a:lvl4pPr marL="3291840" indent="0">
              <a:buNone/>
              <a:defRPr sz="2400"/>
            </a:lvl4pPr>
            <a:lvl5pPr marL="4389120" indent="0">
              <a:buNone/>
              <a:defRPr sz="2400"/>
            </a:lvl5pPr>
            <a:lvl6pPr marL="5486400" indent="0">
              <a:buNone/>
              <a:defRPr sz="2400"/>
            </a:lvl6pPr>
            <a:lvl7pPr marL="6583680" indent="0">
              <a:buNone/>
              <a:defRPr sz="2400"/>
            </a:lvl7pPr>
            <a:lvl8pPr marL="7680960" indent="0">
              <a:buNone/>
              <a:defRPr sz="2400"/>
            </a:lvl8pPr>
            <a:lvl9pPr marL="8778240" indent="0">
              <a:buNone/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02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3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704821" y="1752600"/>
            <a:ext cx="473202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08761" y="1752600"/>
            <a:ext cx="1392174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1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08760" y="1752607"/>
            <a:ext cx="1892808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08760" y="8763000"/>
            <a:ext cx="1892808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0876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735F8-584B-4E3A-A4E1-D54F6296D31C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69480" y="30510487"/>
            <a:ext cx="740664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99080" y="30510487"/>
            <a:ext cx="493776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5EB9-A9F3-4E34-A585-38BBAE0B9D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95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05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672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576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jpe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E451EB3-F053-4B1A-0EAE-80910598AB6F}"/>
              </a:ext>
            </a:extLst>
          </p:cNvPr>
          <p:cNvSpPr/>
          <p:nvPr/>
        </p:nvSpPr>
        <p:spPr>
          <a:xfrm>
            <a:off x="12032" y="4128036"/>
            <a:ext cx="21945600" cy="27432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1EB96E-509A-B90E-83AF-5B4E3B220739}"/>
              </a:ext>
            </a:extLst>
          </p:cNvPr>
          <p:cNvSpPr/>
          <p:nvPr/>
        </p:nvSpPr>
        <p:spPr>
          <a:xfrm>
            <a:off x="0" y="-1"/>
            <a:ext cx="21957632" cy="411480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44247">
              <a:lnSpc>
                <a:spcPct val="114000"/>
              </a:lnSpc>
            </a:pPr>
            <a:endParaRPr lang="en-US" sz="6000" b="1" kern="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EEB9B-1E52-1A2A-E3AE-9C5C190A9980}"/>
              </a:ext>
            </a:extLst>
          </p:cNvPr>
          <p:cNvSpPr/>
          <p:nvPr/>
        </p:nvSpPr>
        <p:spPr>
          <a:xfrm>
            <a:off x="4218039" y="2995204"/>
            <a:ext cx="12150224" cy="8666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sz="4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Sabya</a:t>
            </a:r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Mishra (PI), Md Tawkir Ahmed (Student)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766DC-2C46-EFFD-5ED1-2416DA1DE1CD}"/>
              </a:ext>
            </a:extLst>
          </p:cNvPr>
          <p:cNvSpPr/>
          <p:nvPr/>
        </p:nvSpPr>
        <p:spPr>
          <a:xfrm>
            <a:off x="0" y="32748708"/>
            <a:ext cx="21945600" cy="11555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Rectangle 1028">
            <a:extLst>
              <a:ext uri="{FF2B5EF4-FFF2-40B4-BE49-F238E27FC236}">
                <a16:creationId xmlns:a16="http://schemas.microsoft.com/office/drawing/2014/main" id="{B52A76CB-1A5E-630A-8BB5-43D859478F94}"/>
              </a:ext>
            </a:extLst>
          </p:cNvPr>
          <p:cNvSpPr/>
          <p:nvPr/>
        </p:nvSpPr>
        <p:spPr>
          <a:xfrm>
            <a:off x="705817" y="4551225"/>
            <a:ext cx="20558029" cy="35666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0" tIns="182880" rIns="457200" bIns="182880" rtlCol="0" anchor="t"/>
          <a:lstStyle/>
          <a:p>
            <a:pPr algn="just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freight transport is key to economic sustainability, but truck crashes and congestion hinder mobility and safety. This study identifies high-risk areas on interstates and highways, highlighting speed variations and intersection-related crashes. Strategies like adaptive signals, truck-priority lanes, and dynamic routing can enhance mobility and reduce crash risks, improving freight efficiency and road safety.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50" name="Picture 8">
            <a:extLst>
              <a:ext uri="{FF2B5EF4-FFF2-40B4-BE49-F238E27FC236}">
                <a16:creationId xmlns:a16="http://schemas.microsoft.com/office/drawing/2014/main" id="{9145A2C7-DEB7-66F3-6C72-DBFBC0CE0F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600"/>
          <a:stretch/>
        </p:blipFill>
        <p:spPr bwMode="auto">
          <a:xfrm>
            <a:off x="663588" y="296742"/>
            <a:ext cx="2400505" cy="356715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151" name="Picture 13" descr="A sign with text on it&#10;&#10;Description automatically generated">
            <a:extLst>
              <a:ext uri="{FF2B5EF4-FFF2-40B4-BE49-F238E27FC236}">
                <a16:creationId xmlns:a16="http://schemas.microsoft.com/office/drawing/2014/main" id="{E0C1153C-00CF-8940-32F8-2D955B139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1863" y="471951"/>
            <a:ext cx="5002169" cy="2996551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E8BAFB7-CB14-F446-E376-EDDE2AD14E1E}"/>
              </a:ext>
            </a:extLst>
          </p:cNvPr>
          <p:cNvSpPr txBox="1"/>
          <p:nvPr/>
        </p:nvSpPr>
        <p:spPr>
          <a:xfrm>
            <a:off x="3970217" y="256190"/>
            <a:ext cx="124789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Mobility Dashboard for the Trucking Sector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A0C58E-5F10-7BC6-2DE8-72CF39FE6AAE}"/>
              </a:ext>
            </a:extLst>
          </p:cNvPr>
          <p:cNvSpPr txBox="1"/>
          <p:nvPr/>
        </p:nvSpPr>
        <p:spPr>
          <a:xfrm>
            <a:off x="7076095" y="2324286"/>
            <a:ext cx="644019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IUCRC Phase 1, Year 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E66BF01-67D6-C48C-A5CD-6B04F0647D09}"/>
              </a:ext>
            </a:extLst>
          </p:cNvPr>
          <p:cNvGrpSpPr/>
          <p:nvPr/>
        </p:nvGrpSpPr>
        <p:grpSpPr>
          <a:xfrm>
            <a:off x="2329327" y="8247164"/>
            <a:ext cx="17286946" cy="4778204"/>
            <a:chOff x="718994" y="9376676"/>
            <a:chExt cx="17286946" cy="4778204"/>
          </a:xfrm>
        </p:grpSpPr>
        <p:sp>
          <p:nvSpPr>
            <p:cNvPr id="1027" name="Rectangle 1026">
              <a:extLst>
                <a:ext uri="{FF2B5EF4-FFF2-40B4-BE49-F238E27FC236}">
                  <a16:creationId xmlns:a16="http://schemas.microsoft.com/office/drawing/2014/main" id="{A851CC43-4A82-D93B-ED2B-F6D869CD2083}"/>
                </a:ext>
              </a:extLst>
            </p:cNvPr>
            <p:cNvSpPr/>
            <p:nvPr/>
          </p:nvSpPr>
          <p:spPr>
            <a:xfrm>
              <a:off x="721872" y="9376676"/>
              <a:ext cx="17284068" cy="477820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182880" rIns="457200" bIns="182880" rtlCol="0" anchor="t"/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  <a:p>
              <a:pPr marL="571500" indent="-571500"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67DA58-C25C-CDDB-2019-52412C5B0017}"/>
                </a:ext>
              </a:extLst>
            </p:cNvPr>
            <p:cNvSpPr txBox="1"/>
            <p:nvPr/>
          </p:nvSpPr>
          <p:spPr>
            <a:xfrm>
              <a:off x="2262242" y="9551179"/>
              <a:ext cx="12934647" cy="44012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Multi source data collection, integration and trend analysis.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endParaRPr 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data driven real-time models for traffic monitoring.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endParaRPr 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 interactive dashboard and software.</a:t>
              </a:r>
            </a:p>
            <a:p>
              <a:pPr marL="457200" indent="-457200">
                <a:buFont typeface="Wingdings" panose="05000000000000000000" pitchFamily="2" charset="2"/>
                <a:buChar char="Ø"/>
              </a:pPr>
              <a:endParaRPr lang="en-US" sz="4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Evaluate existing road networks and generate report.</a:t>
              </a:r>
            </a:p>
          </p:txBody>
        </p:sp>
        <p:sp>
          <p:nvSpPr>
            <p:cNvPr id="1025" name="Rectangle 1024">
              <a:extLst>
                <a:ext uri="{FF2B5EF4-FFF2-40B4-BE49-F238E27FC236}">
                  <a16:creationId xmlns:a16="http://schemas.microsoft.com/office/drawing/2014/main" id="{53053242-C621-02E8-183A-6EFCF32AB95A}"/>
                </a:ext>
              </a:extLst>
            </p:cNvPr>
            <p:cNvSpPr/>
            <p:nvPr/>
          </p:nvSpPr>
          <p:spPr>
            <a:xfrm rot="16200000">
              <a:off x="-1145526" y="11241196"/>
              <a:ext cx="4778204" cy="1049164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Objectives</a:t>
              </a:r>
            </a:p>
          </p:txBody>
        </p:sp>
      </p:grpSp>
      <p:grpSp>
        <p:nvGrpSpPr>
          <p:cNvPr id="1124" name="Group 1123">
            <a:extLst>
              <a:ext uri="{FF2B5EF4-FFF2-40B4-BE49-F238E27FC236}">
                <a16:creationId xmlns:a16="http://schemas.microsoft.com/office/drawing/2014/main" id="{33BBDEF7-2E3B-3C4E-6097-BC39DD103658}"/>
              </a:ext>
            </a:extLst>
          </p:cNvPr>
          <p:cNvGrpSpPr/>
          <p:nvPr/>
        </p:nvGrpSpPr>
        <p:grpSpPr>
          <a:xfrm>
            <a:off x="905324" y="13217310"/>
            <a:ext cx="10925725" cy="5839712"/>
            <a:chOff x="351875" y="13915138"/>
            <a:chExt cx="10925725" cy="583971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28775F4-D148-87BB-2FAE-91F72FA1A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8388" y="13915138"/>
              <a:ext cx="10309212" cy="583971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DE32D4-6873-3DCB-D896-0321A0F45814}"/>
                </a:ext>
              </a:extLst>
            </p:cNvPr>
            <p:cNvSpPr txBox="1"/>
            <p:nvPr/>
          </p:nvSpPr>
          <p:spPr>
            <a:xfrm rot="16200000">
              <a:off x="-951811" y="16318372"/>
              <a:ext cx="33152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Methodology</a:t>
              </a:r>
            </a:p>
          </p:txBody>
        </p:sp>
      </p:grp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92A1ACBD-A1C1-E735-F8AD-D3A4F653281C}"/>
              </a:ext>
            </a:extLst>
          </p:cNvPr>
          <p:cNvGrpSpPr/>
          <p:nvPr/>
        </p:nvGrpSpPr>
        <p:grpSpPr>
          <a:xfrm>
            <a:off x="12024514" y="13250107"/>
            <a:ext cx="8853095" cy="5517813"/>
            <a:chOff x="11471065" y="13947935"/>
            <a:chExt cx="8853095" cy="5517813"/>
          </a:xfrm>
        </p:grpSpPr>
        <p:pic>
          <p:nvPicPr>
            <p:cNvPr id="9" name="Picture 8" descr="A screenshot of a website&#10;&#10;AI-generated content may be incorrect.">
              <a:extLst>
                <a:ext uri="{FF2B5EF4-FFF2-40B4-BE49-F238E27FC236}">
                  <a16:creationId xmlns:a16="http://schemas.microsoft.com/office/drawing/2014/main" id="{80A36829-AE7E-6DE9-47DC-E307DF55E2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contrast="20000"/>
                      </a14:imgEffect>
                    </a14:imgLayer>
                  </a14:imgProps>
                </a:ext>
              </a:extLst>
            </a:blip>
            <a:srcRect b="459"/>
            <a:stretch/>
          </p:blipFill>
          <p:spPr>
            <a:xfrm>
              <a:off x="11471065" y="13947935"/>
              <a:ext cx="8145208" cy="5517813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C511F36-01B7-0A95-361B-37E1859492A8}"/>
                </a:ext>
              </a:extLst>
            </p:cNvPr>
            <p:cNvSpPr txBox="1"/>
            <p:nvPr/>
          </p:nvSpPr>
          <p:spPr>
            <a:xfrm rot="16200000">
              <a:off x="18312588" y="16141984"/>
              <a:ext cx="33152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Dashboard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1205CA05-80CC-031D-778E-0A4600DF41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462" y="22729195"/>
            <a:ext cx="18666535" cy="4363993"/>
          </a:xfrm>
          <a:prstGeom prst="rect">
            <a:avLst/>
          </a:prstGeom>
        </p:spPr>
      </p:pic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B873FDA7-A9CC-F175-663C-C9CBD34EBB88}"/>
              </a:ext>
            </a:extLst>
          </p:cNvPr>
          <p:cNvGrpSpPr/>
          <p:nvPr/>
        </p:nvGrpSpPr>
        <p:grpSpPr>
          <a:xfrm>
            <a:off x="910204" y="18956007"/>
            <a:ext cx="19423562" cy="3591178"/>
            <a:chOff x="260503" y="19870401"/>
            <a:chExt cx="19423562" cy="359117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0C78CFF-7F61-0E4D-046A-71909BEED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59761" y="19870401"/>
              <a:ext cx="9601324" cy="359117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4346E33-AA73-4B43-0978-6BEB4717F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1277600" y="19870401"/>
              <a:ext cx="8406465" cy="359117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752C40D-E364-0273-46D7-BC442997A274}"/>
                </a:ext>
              </a:extLst>
            </p:cNvPr>
            <p:cNvSpPr txBox="1"/>
            <p:nvPr/>
          </p:nvSpPr>
          <p:spPr>
            <a:xfrm rot="16200000">
              <a:off x="-1043183" y="21254886"/>
              <a:ext cx="33152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Congestion</a:t>
              </a:r>
            </a:p>
          </p:txBody>
        </p:sp>
      </p:grpSp>
      <p:pic>
        <p:nvPicPr>
          <p:cNvPr id="30" name="Picture 29" descr="A diagram of a graph&#10;&#10;AI-generated content may be incorrect.">
            <a:extLst>
              <a:ext uri="{FF2B5EF4-FFF2-40B4-BE49-F238E27FC236}">
                <a16:creationId xmlns:a16="http://schemas.microsoft.com/office/drawing/2014/main" id="{C7392BDD-63A5-4B21-1C41-12540C925D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4" t="8629" r="16754"/>
          <a:stretch/>
        </p:blipFill>
        <p:spPr>
          <a:xfrm>
            <a:off x="1018636" y="27342788"/>
            <a:ext cx="7758517" cy="4659964"/>
          </a:xfrm>
          <a:prstGeom prst="rect">
            <a:avLst/>
          </a:prstGeom>
        </p:spPr>
      </p:pic>
      <p:pic>
        <p:nvPicPr>
          <p:cNvPr id="1121" name="Picture 1120">
            <a:extLst>
              <a:ext uri="{FF2B5EF4-FFF2-40B4-BE49-F238E27FC236}">
                <a16:creationId xmlns:a16="http://schemas.microsoft.com/office/drawing/2014/main" id="{5CD28147-EBC3-4BCB-ADDC-4B78DB2165B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6625" t="8859" r="34607" b="16272"/>
          <a:stretch/>
        </p:blipFill>
        <p:spPr>
          <a:xfrm>
            <a:off x="8907095" y="27438954"/>
            <a:ext cx="6140154" cy="4310891"/>
          </a:xfrm>
          <a:prstGeom prst="rect">
            <a:avLst/>
          </a:prstGeom>
        </p:spPr>
      </p:pic>
      <p:pic>
        <p:nvPicPr>
          <p:cNvPr id="1122" name="Picture 1121" descr="A traffic jam on a highway&#10;&#10;AI-generated content may be incorrect.">
            <a:extLst>
              <a:ext uri="{FF2B5EF4-FFF2-40B4-BE49-F238E27FC236}">
                <a16:creationId xmlns:a16="http://schemas.microsoft.com/office/drawing/2014/main" id="{A745635F-08B6-0FF0-9DB7-1216E2B45D4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68192" y="27514533"/>
            <a:ext cx="5137364" cy="4185960"/>
          </a:xfrm>
          <a:prstGeom prst="rect">
            <a:avLst/>
          </a:prstGeom>
        </p:spPr>
      </p:pic>
      <p:sp>
        <p:nvSpPr>
          <p:cNvPr id="1127" name="TextBox 1126">
            <a:extLst>
              <a:ext uri="{FF2B5EF4-FFF2-40B4-BE49-F238E27FC236}">
                <a16:creationId xmlns:a16="http://schemas.microsoft.com/office/drawing/2014/main" id="{094ABB6B-B4CA-622F-89C5-BA1F9EEED1D4}"/>
              </a:ext>
            </a:extLst>
          </p:cNvPr>
          <p:cNvSpPr txBox="1"/>
          <p:nvPr/>
        </p:nvSpPr>
        <p:spPr>
          <a:xfrm rot="16200000">
            <a:off x="-627695" y="24419286"/>
            <a:ext cx="35911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Speed Heatmap</a:t>
            </a:r>
          </a:p>
        </p:txBody>
      </p:sp>
      <p:sp>
        <p:nvSpPr>
          <p:cNvPr id="1129" name="TextBox 1128">
            <a:extLst>
              <a:ext uri="{FF2B5EF4-FFF2-40B4-BE49-F238E27FC236}">
                <a16:creationId xmlns:a16="http://schemas.microsoft.com/office/drawing/2014/main" id="{765E2446-173E-4D97-C813-5008ADE51FAD}"/>
              </a:ext>
            </a:extLst>
          </p:cNvPr>
          <p:cNvSpPr txBox="1"/>
          <p:nvPr/>
        </p:nvSpPr>
        <p:spPr>
          <a:xfrm>
            <a:off x="1613210" y="31977139"/>
            <a:ext cx="6346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Spatiotemporal Truck Crash</a:t>
            </a:r>
          </a:p>
        </p:txBody>
      </p:sp>
      <p:sp>
        <p:nvSpPr>
          <p:cNvPr id="1130" name="TextBox 1129">
            <a:extLst>
              <a:ext uri="{FF2B5EF4-FFF2-40B4-BE49-F238E27FC236}">
                <a16:creationId xmlns:a16="http://schemas.microsoft.com/office/drawing/2014/main" id="{DB887DCA-79F5-AB45-2C80-55387644A171}"/>
              </a:ext>
            </a:extLst>
          </p:cNvPr>
          <p:cNvSpPr txBox="1"/>
          <p:nvPr/>
        </p:nvSpPr>
        <p:spPr>
          <a:xfrm>
            <a:off x="7959895" y="31960798"/>
            <a:ext cx="7163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Charging Stations for Truck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0AF2B2B5-9355-BA33-238A-613BD9410399}"/>
              </a:ext>
            </a:extLst>
          </p:cNvPr>
          <p:cNvSpPr txBox="1"/>
          <p:nvPr/>
        </p:nvSpPr>
        <p:spPr>
          <a:xfrm>
            <a:off x="15022572" y="31897069"/>
            <a:ext cx="5855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Driven Method</a:t>
            </a:r>
          </a:p>
        </p:txBody>
      </p:sp>
    </p:spTree>
    <p:extLst>
      <p:ext uri="{BB962C8B-B14F-4D97-AF65-F5344CB8AC3E}">
        <p14:creationId xmlns:p14="http://schemas.microsoft.com/office/powerpoint/2010/main" val="1460432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rebuchet MS">
      <a:majorFont>
        <a:latin typeface="Trebuchet MS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132</TotalTime>
  <Words>139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Times New Roman</vt:lpstr>
      <vt:lpstr>Trebuchet MS</vt:lpstr>
      <vt:lpstr>Wingdings</vt:lpstr>
      <vt:lpstr>Office Theme</vt:lpstr>
      <vt:lpstr>PowerPoint Presentation</vt:lpstr>
    </vt:vector>
  </TitlesOfParts>
  <Company>The University of Memphis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Sowjanya Dhulipala (sdhlpala)</dc:creator>
  <cp:lastModifiedBy>Md Tawkir Ahmed (mahmed8)</cp:lastModifiedBy>
  <cp:revision>28</cp:revision>
  <dcterms:created xsi:type="dcterms:W3CDTF">2023-03-16T15:16:23Z</dcterms:created>
  <dcterms:modified xsi:type="dcterms:W3CDTF">2025-03-28T21:57:06Z</dcterms:modified>
</cp:coreProperties>
</file>